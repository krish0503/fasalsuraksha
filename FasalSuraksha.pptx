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2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59" r:id="rId6"/>
    <p:sldId id="263" r:id="rId7"/>
    <p:sldId id="261" r:id="rId8"/>
    <p:sldId id="264" r:id="rId9"/>
    <p:sldId id="265" r:id="rId10"/>
    <p:sldId id="260" r:id="rId1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18F7C05-96A4-4E16-993E-12694D66CEEE}">
          <p14:sldIdLst>
            <p14:sldId id="256"/>
            <p14:sldId id="257"/>
            <p14:sldId id="258"/>
            <p14:sldId id="262"/>
            <p14:sldId id="259"/>
            <p14:sldId id="263"/>
            <p14:sldId id="261"/>
            <p14:sldId id="264"/>
            <p14:sldId id="265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59635-B2FB-48D9-A04E-DA3D97C46251}" v="26" dt="2025-11-16T15:24:42.678"/>
    <p1510:client id="{4AA0F352-D0E6-1C4C-30D7-BB586DD1D707}" v="152" dt="2025-11-16T18:50:11.139"/>
    <p1510:client id="{7F7CF3DB-7A12-C583-C970-8CE6710504E2}" v="19" dt="2025-11-16T17:46:35.657"/>
    <p1510:client id="{7F83C6CB-1255-39C3-7D36-281BE36D34EA}" v="156" dt="2025-11-17T00:58:30.268"/>
    <p1510:client id="{B4B338A6-6F10-3B1A-8D61-9F335521407B}" v="400" dt="2025-11-16T18:37:33.374"/>
    <p1510:client id="{B57473B1-783F-3C83-7D27-98436D6901E2}" v="1" dt="2025-11-16T18:40:53.459"/>
    <p1510:client id="{CDDDB7FA-9D4A-1B3B-66F8-0EF7C620DE2F}" v="3" dt="2025-11-16T17:40:44.737"/>
    <p1510:client id="{F94149D2-8C0F-F956-FA3F-4178EFC4D54F}" v="17" dt="2025-11-17T01:03:09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A44F7-9FAA-41BB-BCE8-F004C16B2413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3461A-625D-41A8-B3AE-46C41D6658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118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3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79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13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9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4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8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1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6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1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6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5262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97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980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7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9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6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567532" y="3098891"/>
            <a:ext cx="12055291" cy="6229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600" b="1">
                <a:solidFill>
                  <a:srgbClr val="000000"/>
                </a:solidFill>
                <a:latin typeface="Open Sans"/>
                <a:ea typeface="Roboto Bold"/>
                <a:cs typeface="Roboto Bold"/>
                <a:sym typeface="Roboto Bold"/>
              </a:rPr>
              <a:t>• Project Name - </a:t>
            </a:r>
            <a:r>
              <a:rPr lang="en-US" sz="3600" b="1" err="1">
                <a:solidFill>
                  <a:srgbClr val="000000"/>
                </a:solidFill>
                <a:latin typeface="Open Sans"/>
                <a:ea typeface="Roboto Bold"/>
                <a:cs typeface="Roboto Bold"/>
                <a:sym typeface="Roboto Bold"/>
              </a:rPr>
              <a:t>FasalSuraksha</a:t>
            </a:r>
            <a:r>
              <a:rPr lang="en-US" sz="3600" b="1">
                <a:solidFill>
                  <a:srgbClr val="000000"/>
                </a:solidFill>
                <a:latin typeface="Open Sans"/>
                <a:ea typeface="Roboto Bold"/>
                <a:cs typeface="Roboto Bold"/>
                <a:sym typeface="Roboto Bold"/>
              </a:rPr>
              <a:t> </a:t>
            </a:r>
            <a:endParaRPr lang="en-US" sz="3600" b="1">
              <a:solidFill>
                <a:srgbClr val="000000"/>
              </a:solidFill>
              <a:latin typeface="Open Sans"/>
              <a:ea typeface="Roboto Bold"/>
              <a:cs typeface="Roboto Bold"/>
            </a:endParaRPr>
          </a:p>
          <a:p>
            <a:pPr>
              <a:lnSpc>
                <a:spcPts val="4899"/>
              </a:lnSpc>
            </a:pPr>
            <a:r>
              <a:rPr lang="en-US" sz="3600" b="1">
                <a:solidFill>
                  <a:srgbClr val="000000"/>
                </a:solidFill>
                <a:latin typeface="Open Sans"/>
                <a:ea typeface="Roboto Bold"/>
                <a:cs typeface="Roboto Bold"/>
                <a:sym typeface="Roboto Bold"/>
              </a:rPr>
              <a:t>• Project Description - </a:t>
            </a:r>
            <a:r>
              <a:rPr lang="en-US" sz="3600" b="1">
                <a:latin typeface="Open Sans"/>
                <a:ea typeface="+mn-lt"/>
                <a:cs typeface="+mn-lt"/>
                <a:sym typeface="Roboto Bold"/>
              </a:rPr>
              <a:t>FasalSuraksha is an AI-powered web application that instantly detects plant diseases from leaf images and provides expert treatment recommendations through an intelligent chatbot fasalSuraksha is an AI-powered web application that instantly detects plant diseases from leaf images and provides expert treatment recommendations through an intelligent chatbot.</a:t>
            </a:r>
            <a:endParaRPr lang="en-US" sz="3600">
              <a:latin typeface="Open Sans"/>
              <a:ea typeface="Roboto Bold"/>
              <a:cs typeface="Roboto Bold"/>
            </a:endParaRPr>
          </a:p>
          <a:p>
            <a:pPr algn="l">
              <a:lnSpc>
                <a:spcPts val="4899"/>
              </a:lnSpc>
            </a:pPr>
            <a:endParaRPr lang="en-US" sz="3499" b="1">
              <a:solidFill>
                <a:srgbClr val="000000"/>
              </a:solidFill>
              <a:latin typeface="+mj-lt"/>
              <a:ea typeface="Roboto Bold"/>
              <a:cs typeface="Roboto Bold"/>
              <a:sym typeface="Robot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710682" y="1338558"/>
            <a:ext cx="3622357" cy="706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TITLE PAGE</a:t>
            </a:r>
            <a:endParaRPr lang="en-US" sz="4000" b="1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930378" y="2103120"/>
            <a:ext cx="4950202" cy="706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000" b="1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Member Details 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7254FC-3677-81FA-ED11-9CD7CBAED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826539"/>
              </p:ext>
            </p:extLst>
          </p:nvPr>
        </p:nvGraphicFramePr>
        <p:xfrm>
          <a:off x="1084420" y="3352800"/>
          <a:ext cx="11458100" cy="5120640"/>
        </p:xfrm>
        <a:graphic>
          <a:graphicData uri="http://schemas.openxmlformats.org/drawingml/2006/table">
            <a:tbl>
              <a:tblPr firstRow="1" firstCol="1" bandRow="1"/>
              <a:tblGrid>
                <a:gridCol w="6171191">
                  <a:extLst>
                    <a:ext uri="{9D8B030D-6E8A-4147-A177-3AD203B41FA5}">
                      <a16:colId xmlns:a16="http://schemas.microsoft.com/office/drawing/2014/main" val="4293401337"/>
                    </a:ext>
                  </a:extLst>
                </a:gridCol>
                <a:gridCol w="5286909">
                  <a:extLst>
                    <a:ext uri="{9D8B030D-6E8A-4147-A177-3AD203B41FA5}">
                      <a16:colId xmlns:a16="http://schemas.microsoft.com/office/drawing/2014/main" val="4291840079"/>
                    </a:ext>
                  </a:extLst>
                </a:gridCol>
              </a:tblGrid>
              <a:tr h="96402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RAUNAK KUMAR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11600723083  (IT/23/095)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79661"/>
                  </a:ext>
                </a:extLst>
              </a:tr>
              <a:tr h="98506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RAHUL KUMAR SHAW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11600723078  (IT/23/099)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465308"/>
                  </a:ext>
                </a:extLst>
              </a:tr>
              <a:tr h="96402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KRISH BARMAN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11600723054 (IT/23/105)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111167"/>
                  </a:ext>
                </a:extLst>
              </a:tr>
              <a:tr h="220751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AKSHITA YADAV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SNEHA JHA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11600723016 (IT/23/118)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11600723105 (IT/23/107)</a:t>
                      </a:r>
                      <a:endParaRPr lang="en-IN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9372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707159" y="1149065"/>
            <a:ext cx="5848883" cy="706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E88C42-09D4-6825-DE54-137B5A28C8C3}"/>
              </a:ext>
            </a:extLst>
          </p:cNvPr>
          <p:cNvSpPr txBox="1"/>
          <p:nvPr/>
        </p:nvSpPr>
        <p:spPr>
          <a:xfrm>
            <a:off x="1097630" y="3620006"/>
            <a:ext cx="6537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Statement</a:t>
            </a:r>
          </a:p>
          <a:p>
            <a:endParaRPr lang="en-US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Farmers face major losses from late crop disease detection, causing poor yield, low-quality produce, and financial stress. The lack of accessible, real-time diagnosis tools leaves smallholder farmers vulnerable and threatens global food security.</a:t>
            </a:r>
            <a:endParaRPr lang="en-IN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13D8E1-46C0-9137-4FAF-E4636BF05DB7}"/>
              </a:ext>
            </a:extLst>
          </p:cNvPr>
          <p:cNvSpPr/>
          <p:nvPr/>
        </p:nvSpPr>
        <p:spPr>
          <a:xfrm>
            <a:off x="516081" y="2575096"/>
            <a:ext cx="7710616" cy="5041556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BE972A-A0F5-253F-F84E-301663F1D6FE}"/>
              </a:ext>
            </a:extLst>
          </p:cNvPr>
          <p:cNvSpPr/>
          <p:nvPr/>
        </p:nvSpPr>
        <p:spPr>
          <a:xfrm>
            <a:off x="8559521" y="2575096"/>
            <a:ext cx="7609197" cy="5041556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                     </a:t>
            </a:r>
            <a:endParaRPr lang="en-US" altLang="en-US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08FC68-C396-7337-EAE8-B17F5B2A642A}"/>
              </a:ext>
            </a:extLst>
          </p:cNvPr>
          <p:cNvSpPr txBox="1"/>
          <p:nvPr/>
        </p:nvSpPr>
        <p:spPr>
          <a:xfrm>
            <a:off x="8854142" y="3620006"/>
            <a:ext cx="70199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this Problem Exist?</a:t>
            </a:r>
          </a:p>
          <a:p>
            <a:pPr marL="457200" indent="-457200">
              <a:buAutoNum type="arabicPeriod"/>
            </a:pPr>
            <a:endParaRPr lang="en-US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simple, affordable early detection tools.</a:t>
            </a:r>
          </a:p>
          <a:p>
            <a:pPr marL="457200" indent="-457200">
              <a:buAutoNum type="arabicPeriod"/>
            </a:pP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Poor or no internet access.</a:t>
            </a:r>
          </a:p>
          <a:p>
            <a:pPr marL="457200" indent="-457200">
              <a:buAutoNum type="arabicPeriod"/>
            </a:pP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AI models fail on real farm images.</a:t>
            </a:r>
          </a:p>
          <a:p>
            <a:pPr marL="457200" indent="-457200">
              <a:buAutoNum type="arabicPeriod"/>
            </a:pP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Existing apps are internet-dependent and not localized.</a:t>
            </a:r>
          </a:p>
          <a:p>
            <a:pPr marL="457200" indent="-457200">
              <a:buAutoNum type="arabicPeriod"/>
            </a:pP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Limited technical knowledge.</a:t>
            </a:r>
            <a:endParaRPr lang="en-IN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6F2BAE-92EA-2BD6-EF64-CA9DD6E6A040}"/>
              </a:ext>
            </a:extLst>
          </p:cNvPr>
          <p:cNvSpPr txBox="1"/>
          <p:nvPr/>
        </p:nvSpPr>
        <p:spPr>
          <a:xfrm flipH="1">
            <a:off x="456874" y="2716550"/>
            <a:ext cx="734134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3851" lvl="1"/>
            <a:r>
              <a:rPr lang="en-US" sz="22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      </a:t>
            </a:r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  </a:t>
            </a:r>
            <a:r>
              <a:rPr lang="en-US" sz="2400" b="1" u="sng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Who faces this issue (target audience)?</a:t>
            </a:r>
          </a:p>
          <a:p>
            <a:pPr marL="323851" lvl="1"/>
            <a:endParaRPr lang="en-US" sz="2400" b="1" u="sng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nva Sans"/>
            </a:endParaRPr>
          </a:p>
          <a:p>
            <a:pPr marL="323851" lvl="1"/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1.    </a:t>
            </a:r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Smallholder &amp; Medium-Scale Farmers </a:t>
            </a:r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(Primary Users): Directly by crop diseases and yield loss.</a:t>
            </a:r>
          </a:p>
          <a:p>
            <a:pPr marL="323851" lvl="1"/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2.    </a:t>
            </a:r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Agricultural Experts &amp; Extension Officers </a:t>
            </a:r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(Secondary Users): Monitor regional crop health and advise farmers.</a:t>
            </a:r>
          </a:p>
          <a:p>
            <a:pPr marL="323851" lvl="1"/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.   Government &amp; Agri-Organizations </a:t>
            </a:r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(Support Stakeholders): Use large-scale disease data for policy-making and awareness programs.</a:t>
            </a:r>
          </a:p>
          <a:p>
            <a:pPr marL="323851" lvl="1"/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4.   </a:t>
            </a:r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Agri-Businesses &amp; Agri-Tech Startups </a:t>
            </a:r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(Tertiary Stakeholders): Companies providing seeds, fertilizers, insurance, or digital tools.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3EFE08-EF72-A0FE-A9FF-6BB1301D6E86}"/>
              </a:ext>
            </a:extLst>
          </p:cNvPr>
          <p:cNvSpPr/>
          <p:nvPr/>
        </p:nvSpPr>
        <p:spPr>
          <a:xfrm>
            <a:off x="272240" y="2083584"/>
            <a:ext cx="8022873" cy="6664176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2FB31-0D8B-48B2-D15C-424DE94DEA5F}"/>
              </a:ext>
            </a:extLst>
          </p:cNvPr>
          <p:cNvSpPr txBox="1"/>
          <p:nvPr/>
        </p:nvSpPr>
        <p:spPr>
          <a:xfrm>
            <a:off x="4127549" y="715953"/>
            <a:ext cx="9151256" cy="792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A96163-56AE-83D0-8C8D-25E3909F409A}"/>
              </a:ext>
            </a:extLst>
          </p:cNvPr>
          <p:cNvSpPr/>
          <p:nvPr/>
        </p:nvSpPr>
        <p:spPr>
          <a:xfrm>
            <a:off x="8718417" y="2083584"/>
            <a:ext cx="6812280" cy="6664176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23851" lvl="1"/>
            <a:r>
              <a:rPr lang="en-US" sz="2400" b="1" u="sng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Current gaps in existing solutions:</a:t>
            </a:r>
          </a:p>
          <a:p>
            <a:pPr marL="323851" lvl="1"/>
            <a:endParaRPr lang="en-US" sz="2400" b="1" u="sng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nva Sans"/>
            </a:endParaRPr>
          </a:p>
          <a:p>
            <a:pPr marL="781051" lvl="1" indent="-457200">
              <a:buAutoNum type="arabicPeriod"/>
            </a:pPr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Connectivity Reliance</a:t>
            </a:r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: Cloud-based tools fail in low-internet rural areas.</a:t>
            </a:r>
          </a:p>
          <a:p>
            <a:pPr marL="323851" lvl="1"/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2.    Limited Usability: </a:t>
            </a:r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No multilingual or voice support for non-              literate farmers.</a:t>
            </a:r>
          </a:p>
          <a:p>
            <a:pPr marL="323851" lvl="1"/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3</a:t>
            </a:r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.    Low Actionability: </a:t>
            </a:r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Only diagnoses, without localized remedies or preventive guidance.</a:t>
            </a:r>
          </a:p>
          <a:p>
            <a:pPr marL="323851" lvl="1"/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4.    </a:t>
            </a:r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Poor Real-World Accuracy:</a:t>
            </a:r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 AI models often misclassify crops in actual field conditions.</a:t>
            </a:r>
          </a:p>
          <a:p>
            <a:pPr marL="323851" lvl="1"/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5.    </a:t>
            </a:r>
            <a:r>
              <a:rPr lang="en-US" sz="2400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Reactive Approach: </a:t>
            </a:r>
            <a:r>
              <a:rPr lang="en-US" sz="24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No early-warning or predictive disease detection</a:t>
            </a:r>
            <a:r>
              <a:rPr lang="en-US" sz="1900" b="1" u="sng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nv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98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534932" y="639186"/>
            <a:ext cx="5227662" cy="706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Solution Overview</a:t>
            </a:r>
            <a:endParaRPr lang="en-US" sz="4000" b="1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795546-1C7C-915D-C826-D59B396150FF}"/>
              </a:ext>
            </a:extLst>
          </p:cNvPr>
          <p:cNvSpPr/>
          <p:nvPr/>
        </p:nvSpPr>
        <p:spPr>
          <a:xfrm>
            <a:off x="513259" y="5177731"/>
            <a:ext cx="7609197" cy="4514415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 b="1" u="sng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                     </a:t>
            </a:r>
            <a:endParaRPr lang="en-US" altLang="en-US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6E56D7-8640-E425-CD2C-3222C9CE1122}"/>
              </a:ext>
            </a:extLst>
          </p:cNvPr>
          <p:cNvSpPr/>
          <p:nvPr/>
        </p:nvSpPr>
        <p:spPr>
          <a:xfrm>
            <a:off x="745808" y="1568192"/>
            <a:ext cx="7604435" cy="2984818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B018BE-1963-A4ED-4C59-4ED892523932}"/>
              </a:ext>
            </a:extLst>
          </p:cNvPr>
          <p:cNvSpPr txBox="1"/>
          <p:nvPr/>
        </p:nvSpPr>
        <p:spPr>
          <a:xfrm>
            <a:off x="1260809" y="2091105"/>
            <a:ext cx="66865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en-US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Liner Pitch:</a:t>
            </a:r>
          </a:p>
          <a:p>
            <a:endParaRPr lang="en-US" sz="2400" b="1" u="sng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4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FasalSuraksha</a:t>
            </a: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Empowering farmers with AI to detect crop diseases early and protect their harvest effortlessly.</a:t>
            </a:r>
            <a:endParaRPr lang="en-IN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15D4F6-3363-4687-CDE9-01B6ADB08CB5}"/>
              </a:ext>
            </a:extLst>
          </p:cNvPr>
          <p:cNvSpPr/>
          <p:nvPr/>
        </p:nvSpPr>
        <p:spPr>
          <a:xfrm>
            <a:off x="8801426" y="1550622"/>
            <a:ext cx="5659755" cy="7632702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357E60-6763-F31D-1E42-792C3416A7F2}"/>
              </a:ext>
            </a:extLst>
          </p:cNvPr>
          <p:cNvSpPr txBox="1"/>
          <p:nvPr/>
        </p:nvSpPr>
        <p:spPr>
          <a:xfrm>
            <a:off x="9016064" y="2171959"/>
            <a:ext cx="5445117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latin typeface="Open Sans"/>
                <a:ea typeface="Open Sans"/>
                <a:cs typeface="Open Sans"/>
              </a:rPr>
              <a:t>                     </a:t>
            </a:r>
            <a:r>
              <a:rPr lang="en-US" sz="2400" b="1" u="sng">
                <a:latin typeface="Open Sans"/>
                <a:ea typeface="Open Sans"/>
                <a:cs typeface="Open Sans"/>
              </a:rPr>
              <a:t>Benefits:</a:t>
            </a:r>
          </a:p>
          <a:p>
            <a:endParaRPr lang="en-US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400" b="1">
                <a:latin typeface="Open Sans"/>
                <a:ea typeface="Open Sans"/>
                <a:cs typeface="Open Sans"/>
              </a:rPr>
              <a:t>Time Saved </a:t>
            </a:r>
            <a:r>
              <a:rPr lang="en-US" sz="2400">
                <a:latin typeface="Open Sans"/>
                <a:ea typeface="Open Sans"/>
                <a:cs typeface="Open Sans"/>
              </a:rPr>
              <a:t>– Instant disease detection.</a:t>
            </a:r>
          </a:p>
          <a:p>
            <a:r>
              <a:rPr lang="en-US" sz="2400" b="1">
                <a:latin typeface="Open Sans"/>
                <a:ea typeface="Open Sans"/>
                <a:cs typeface="Open Sans"/>
              </a:rPr>
              <a:t>Cost Reduced</a:t>
            </a:r>
            <a:r>
              <a:rPr lang="en-US" sz="2400">
                <a:latin typeface="Open Sans"/>
                <a:ea typeface="Open Sans"/>
                <a:cs typeface="Open Sans"/>
              </a:rPr>
              <a:t>– Reduces crop losses and minimizes unnecessary pesticide usage.</a:t>
            </a:r>
          </a:p>
          <a:p>
            <a:r>
              <a:rPr lang="en-US" sz="2400" b="1">
                <a:latin typeface="Open Sans"/>
                <a:ea typeface="Open Sans"/>
                <a:cs typeface="Open Sans"/>
              </a:rPr>
              <a:t>Improved User Experience</a:t>
            </a:r>
            <a:r>
              <a:rPr lang="en-US" sz="2400">
                <a:latin typeface="Open Sans"/>
                <a:ea typeface="Open Sans"/>
                <a:cs typeface="Open Sans"/>
              </a:rPr>
              <a:t>– Easy-to-use interface with voice &amp; multilingual support.</a:t>
            </a:r>
          </a:p>
          <a:p>
            <a:r>
              <a:rPr lang="en-US" sz="2400" b="1">
                <a:latin typeface="Open Sans"/>
                <a:ea typeface="Open Sans"/>
                <a:cs typeface="Open Sans"/>
              </a:rPr>
              <a:t>Accessibility Anywhere</a:t>
            </a:r>
            <a:r>
              <a:rPr lang="en-US" sz="2400">
                <a:latin typeface="Open Sans"/>
                <a:ea typeface="Open Sans"/>
                <a:cs typeface="Open Sans"/>
              </a:rPr>
              <a:t>– ideal for areas with poor internet.</a:t>
            </a:r>
          </a:p>
          <a:p>
            <a:r>
              <a:rPr lang="en-US" sz="2400" b="1">
                <a:latin typeface="Open Sans"/>
                <a:ea typeface="Open Sans"/>
                <a:cs typeface="Open Sans"/>
              </a:rPr>
              <a:t>Better Crop Health &amp; Yield</a:t>
            </a:r>
            <a:r>
              <a:rPr lang="en-US" b="1"/>
              <a:t>.</a:t>
            </a:r>
            <a:endParaRPr lang="en-IN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76698E-FEBD-1AF1-A55C-C306C67EF5FA}"/>
              </a:ext>
            </a:extLst>
          </p:cNvPr>
          <p:cNvSpPr txBox="1"/>
          <p:nvPr/>
        </p:nvSpPr>
        <p:spPr>
          <a:xfrm>
            <a:off x="1192229" y="5405446"/>
            <a:ext cx="68237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             </a:t>
            </a:r>
            <a:r>
              <a:rPr lang="en-US" altLang="en-US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Features</a:t>
            </a:r>
            <a:r>
              <a:rPr lang="en-US" alt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en-US" alt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AI Diagnosis – </a:t>
            </a:r>
            <a:r>
              <a:rPr lang="en-US" altLang="en-US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Detects crop diseases instantly</a:t>
            </a:r>
            <a:r>
              <a:rPr lang="en-US" alt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en-US" altLang="en-US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Remedy Recommendations </a:t>
            </a:r>
            <a:r>
              <a:rPr lang="en-US" alt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Actionable treatments to save crops.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en-US" alt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Voice &amp; Multilingual Support – Reads results in local languages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en-US" alt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Multi-Crop Ready – Supports selected crops now</a:t>
            </a:r>
            <a:r>
              <a:rPr lang="en-US" altLang="en-US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scalable to many more.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8375C1-0853-04C6-A875-864E2F5AEBE8}"/>
              </a:ext>
            </a:extLst>
          </p:cNvPr>
          <p:cNvSpPr/>
          <p:nvPr/>
        </p:nvSpPr>
        <p:spPr>
          <a:xfrm>
            <a:off x="816846" y="1952258"/>
            <a:ext cx="11506044" cy="805436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2381B-0285-D6C2-07AF-20A8068C1611}"/>
              </a:ext>
            </a:extLst>
          </p:cNvPr>
          <p:cNvSpPr txBox="1"/>
          <p:nvPr/>
        </p:nvSpPr>
        <p:spPr>
          <a:xfrm>
            <a:off x="4575443" y="480674"/>
            <a:ext cx="893356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 Stack &amp; System Architecture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5BC6B-C509-098E-03B1-05CE2DAEC868}"/>
              </a:ext>
            </a:extLst>
          </p:cNvPr>
          <p:cNvSpPr txBox="1"/>
          <p:nvPr/>
        </p:nvSpPr>
        <p:spPr>
          <a:xfrm>
            <a:off x="1192809" y="2236611"/>
            <a:ext cx="1113026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🖥 </a:t>
            </a:r>
            <a:r>
              <a:rPr lang="en-IN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 Tech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Flask 3, Python 3.12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TensorFlow,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Keras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NumPy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Gemini 2.5 Flash for chatbot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Firebase Admin SDK,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PyJWT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auth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🎨 </a:t>
            </a:r>
            <a:r>
              <a:rPr lang="en-IN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 Tech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Bootstrap 5, Custom CSS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JavaScript (ES6)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Firebase Client SDK (Google login + Email/Password)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 Fonts (Poppins), SVG Icons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🤖 </a:t>
            </a:r>
            <a:r>
              <a:rPr lang="en-IN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ML Model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CNN model 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 format: .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keras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🔐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AuthenticationGoogle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OAuthEmail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/Password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Token verification + secure sessions🗄</a:t>
            </a:r>
          </a:p>
          <a:p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StorageSession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storage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Local image storage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Optional: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Firestore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user data, feedback, history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🌐 </a:t>
            </a:r>
            <a:r>
              <a:rPr lang="en-IN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APIs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Google Gemini API for chatbot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Firebase Authentication &amp;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Firestore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740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7EBA8C-25CE-295B-A8EF-FE7E93F250F9}"/>
              </a:ext>
            </a:extLst>
          </p:cNvPr>
          <p:cNvSpPr/>
          <p:nvPr/>
        </p:nvSpPr>
        <p:spPr>
          <a:xfrm>
            <a:off x="9017202" y="495883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0893D3-294F-2560-7D63-9AE510938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08" y="1612725"/>
            <a:ext cx="11893815" cy="82515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FB38E4-0A31-668E-3BBA-5278A012D135}"/>
              </a:ext>
            </a:extLst>
          </p:cNvPr>
          <p:cNvSpPr txBox="1"/>
          <p:nvPr/>
        </p:nvSpPr>
        <p:spPr>
          <a:xfrm>
            <a:off x="2709464" y="176066"/>
            <a:ext cx="102103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latin typeface="Open Sans"/>
                <a:ea typeface="Open Sans"/>
                <a:cs typeface="Open Sans"/>
              </a:rPr>
              <a:t> Workflow Diagram</a:t>
            </a:r>
            <a:endParaRPr lang="en-US" sz="4000" dirty="0"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0F934C-FCB0-818C-D60E-20C8CE1BD97A}"/>
              </a:ext>
            </a:extLst>
          </p:cNvPr>
          <p:cNvSpPr txBox="1"/>
          <p:nvPr/>
        </p:nvSpPr>
        <p:spPr>
          <a:xfrm>
            <a:off x="5043948" y="929148"/>
            <a:ext cx="872367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000" b="1">
                <a:latin typeface="Open Sans"/>
                <a:ea typeface="Open Sans"/>
                <a:cs typeface="Open Sans"/>
              </a:rPr>
              <a:t>Feasibility And Business Potential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73E923-8E20-D027-4B5A-2A6E770AF045}"/>
              </a:ext>
            </a:extLst>
          </p:cNvPr>
          <p:cNvSpPr/>
          <p:nvPr/>
        </p:nvSpPr>
        <p:spPr>
          <a:xfrm>
            <a:off x="525414" y="2382917"/>
            <a:ext cx="7577351" cy="294613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A80BEF-8128-36F4-F56C-C0876D34F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807" y="2416823"/>
            <a:ext cx="668792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/>
                <a:cs typeface="Arial"/>
              </a:rPr>
              <a:t>       </a:t>
            </a:r>
            <a:r>
              <a:rPr lang="en-US" altLang="en-US">
                <a:latin typeface="Arial"/>
                <a:ea typeface="Open Sans" panose="020B0606030504020204" pitchFamily="34" charset="0"/>
                <a:cs typeface="Arial"/>
              </a:rPr>
              <a:t>                       </a:t>
            </a:r>
            <a:r>
              <a:rPr lang="en-US" altLang="en-US" sz="2400" b="1" u="sng">
                <a:latin typeface="Open Sans"/>
                <a:ea typeface="Open Sans"/>
                <a:cs typeface="Open Sans"/>
              </a:rPr>
              <a:t>Technical Feasibilty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Open Sans"/>
                <a:ea typeface="Open Sans"/>
                <a:cs typeface="Open Sans"/>
              </a:rPr>
              <a:t>Uses open-source tools, reducing development cost.</a:t>
            </a:r>
            <a:endParaRPr lang="en-US" altLang="en-US" sz="2400" b="0" i="0" u="none" strike="noStrike" cap="none" normalizeH="0" baseline="0">
              <a:ln>
                <a:noFill/>
              </a:ln>
              <a:effectLst/>
              <a:latin typeface="Open Sans"/>
              <a:ea typeface="Open Sans"/>
              <a:cs typeface="Open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>
                <a:latin typeface="Open Sans"/>
                <a:ea typeface="Open Sans"/>
                <a:cs typeface="Open Sans"/>
              </a:rPr>
              <a:t>2.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Open Sans"/>
                <a:ea typeface="Open Sans"/>
                <a:cs typeface="Open Sans"/>
              </a:rPr>
              <a:t>Easy to deploy on web or mobile platforms.</a:t>
            </a:r>
            <a:endParaRPr lang="en-US" altLang="en-US" sz="2400" b="0" i="0" u="none" strike="noStrike" cap="none" normalizeH="0" baseline="0">
              <a:ln>
                <a:noFill/>
              </a:ln>
              <a:effectLst/>
              <a:latin typeface="Open Sans"/>
              <a:ea typeface="Open Sans"/>
              <a:cs typeface="Open Sans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Open Sans"/>
                <a:ea typeface="Open Sans"/>
                <a:cs typeface="Open Sans"/>
              </a:rPr>
              <a:t>3. Works on lightweight CNN + Flask architecture.</a:t>
            </a:r>
            <a:endParaRPr lang="en-US" altLang="en-US" sz="2400" b="0" i="0" u="none" strike="noStrike" cap="none" normalizeH="0" baseline="0">
              <a:ln>
                <a:noFill/>
              </a:ln>
              <a:effectLst/>
              <a:latin typeface="Open Sans"/>
              <a:ea typeface="Open Sans"/>
              <a:cs typeface="Open Sa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18D79E-3DE0-E27B-9D4C-DE05C97AA60E}"/>
              </a:ext>
            </a:extLst>
          </p:cNvPr>
          <p:cNvSpPr/>
          <p:nvPr/>
        </p:nvSpPr>
        <p:spPr>
          <a:xfrm>
            <a:off x="525414" y="5639503"/>
            <a:ext cx="6805917" cy="318943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948088-A4AF-744C-8CD1-C987D40A8F09}"/>
              </a:ext>
            </a:extLst>
          </p:cNvPr>
          <p:cNvSpPr/>
          <p:nvPr/>
        </p:nvSpPr>
        <p:spPr>
          <a:xfrm>
            <a:off x="8191255" y="2182252"/>
            <a:ext cx="6400799" cy="335998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9843E430-60D4-1B13-53FC-226E60D3A547}"/>
              </a:ext>
            </a:extLst>
          </p:cNvPr>
          <p:cNvSpPr/>
          <p:nvPr/>
        </p:nvSpPr>
        <p:spPr>
          <a:xfrm>
            <a:off x="7752736" y="5776066"/>
            <a:ext cx="6577780" cy="3396539"/>
          </a:xfrm>
          <a:prstGeom prst="round2Same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A9618-516C-3D77-DE87-161C34FC055D}"/>
              </a:ext>
            </a:extLst>
          </p:cNvPr>
          <p:cNvSpPr txBox="1"/>
          <p:nvPr/>
        </p:nvSpPr>
        <p:spPr>
          <a:xfrm>
            <a:off x="8723656" y="2332489"/>
            <a:ext cx="60390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Practical Viability</a:t>
            </a:r>
          </a:p>
          <a:p>
            <a:pPr algn="ctr"/>
            <a:endParaRPr lang="en-IN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 operational cost and easy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maintaenance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.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Suitable for farmers with basic  smartphones.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Scalable for more crops , languages      and features.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86B97-2A38-88AA-8F43-1E16A9399B3A}"/>
              </a:ext>
            </a:extLst>
          </p:cNvPr>
          <p:cNvSpPr txBox="1"/>
          <p:nvPr/>
        </p:nvSpPr>
        <p:spPr>
          <a:xfrm>
            <a:off x="813007" y="5756893"/>
            <a:ext cx="623072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Challenges</a:t>
            </a:r>
          </a:p>
          <a:p>
            <a:endParaRPr lang="en-IN"/>
          </a:p>
          <a:p>
            <a:pPr marL="342900" indent="-342900">
              <a:buAutoNum type="arabicPeriod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Varying image quality in real farming conditions.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Internet connectivity issues in real areas.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Continuous dataset updates needed for accuracy.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E5B70-279E-635B-EBC8-4007BE06AEAB}"/>
              </a:ext>
            </a:extLst>
          </p:cNvPr>
          <p:cNvSpPr txBox="1"/>
          <p:nvPr/>
        </p:nvSpPr>
        <p:spPr>
          <a:xfrm>
            <a:off x="8102764" y="5826493"/>
            <a:ext cx="65777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Business Potential</a:t>
            </a:r>
          </a:p>
          <a:p>
            <a:endParaRPr lang="en-IN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Usable by farmers,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agri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-centres, and NGOs.</a:t>
            </a:r>
          </a:p>
          <a:p>
            <a:pPr marL="342900" indent="-342900">
              <a:buAutoNum type="arabicPeriod" startAt="2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Scope for partnerships with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agri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-tech companies.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Possible subscription, premium advisory, or B2B model.</a:t>
            </a:r>
          </a:p>
        </p:txBody>
      </p:sp>
    </p:spTree>
    <p:extLst>
      <p:ext uri="{BB962C8B-B14F-4D97-AF65-F5344CB8AC3E}">
        <p14:creationId xmlns:p14="http://schemas.microsoft.com/office/powerpoint/2010/main" val="273823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0328BF-3FD7-5097-0439-3ECB364497D0}"/>
              </a:ext>
            </a:extLst>
          </p:cNvPr>
          <p:cNvSpPr txBox="1"/>
          <p:nvPr/>
        </p:nvSpPr>
        <p:spPr>
          <a:xfrm>
            <a:off x="3524865" y="1032387"/>
            <a:ext cx="8421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 and Benefits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4B52B-60CB-D6B2-28FC-38CE7A9AF444}"/>
              </a:ext>
            </a:extLst>
          </p:cNvPr>
          <p:cNvSpPr/>
          <p:nvPr/>
        </p:nvSpPr>
        <p:spPr>
          <a:xfrm>
            <a:off x="648929" y="2462981"/>
            <a:ext cx="6872748" cy="3200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150DBA-0FFC-22ED-0085-B39EA4350D3B}"/>
              </a:ext>
            </a:extLst>
          </p:cNvPr>
          <p:cNvSpPr/>
          <p:nvPr/>
        </p:nvSpPr>
        <p:spPr>
          <a:xfrm>
            <a:off x="8052619" y="2462981"/>
            <a:ext cx="7123471" cy="3200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9059AB-C6CC-F854-461F-57DB40D1D6BD}"/>
              </a:ext>
            </a:extLst>
          </p:cNvPr>
          <p:cNvSpPr/>
          <p:nvPr/>
        </p:nvSpPr>
        <p:spPr>
          <a:xfrm>
            <a:off x="521042" y="5955606"/>
            <a:ext cx="6990735" cy="416724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84FF3A-04DD-40C6-90C0-070221C703E3}"/>
              </a:ext>
            </a:extLst>
          </p:cNvPr>
          <p:cNvSpPr/>
          <p:nvPr/>
        </p:nvSpPr>
        <p:spPr>
          <a:xfrm>
            <a:off x="8014182" y="5961170"/>
            <a:ext cx="7131059" cy="392828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46AD4-EE7D-A8DF-AED7-4EE96A9EFB97}"/>
              </a:ext>
            </a:extLst>
          </p:cNvPr>
          <p:cNvSpPr txBox="1"/>
          <p:nvPr/>
        </p:nvSpPr>
        <p:spPr>
          <a:xfrm>
            <a:off x="988142" y="2661260"/>
            <a:ext cx="65335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Crop Health</a:t>
            </a:r>
          </a:p>
          <a:p>
            <a:endParaRPr lang="en-IN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Early disease detection reduces crop damage.</a:t>
            </a:r>
          </a:p>
          <a:p>
            <a:pPr marL="342900" indent="-342900">
              <a:buAutoNum type="arabicPeriod" startAt="2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Timely treatment helps prevent disease spread.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3.Increase overall yield quality.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B35EF-759C-9A29-BEC7-656A2968CF1F}"/>
              </a:ext>
            </a:extLst>
          </p:cNvPr>
          <p:cNvSpPr txBox="1"/>
          <p:nvPr/>
        </p:nvSpPr>
        <p:spPr>
          <a:xfrm>
            <a:off x="8185355" y="2658630"/>
            <a:ext cx="679900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 &amp; Time Savings</a:t>
            </a:r>
          </a:p>
          <a:p>
            <a:endParaRPr lang="en-IN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Cut down losses from late disease identification.</a:t>
            </a:r>
          </a:p>
          <a:p>
            <a:pPr marL="342900" indent="-342900">
              <a:buAutoNum type="arabicPeriod" startAt="2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Minimizes need for costly expert visits.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 Saves effort through quick mobile/web access.</a:t>
            </a:r>
          </a:p>
          <a:p>
            <a:pPr marL="342900" indent="-342900">
              <a:buAutoNum type="arabicPeriod" startAt="2"/>
            </a:pP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14DD1-8127-1950-F73B-E9261E8DAD89}"/>
              </a:ext>
            </a:extLst>
          </p:cNvPr>
          <p:cNvSpPr txBox="1"/>
          <p:nvPr/>
        </p:nvSpPr>
        <p:spPr>
          <a:xfrm>
            <a:off x="795706" y="6337085"/>
            <a:ext cx="64597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Potential Impact on the target audience</a:t>
            </a:r>
          </a:p>
          <a:p>
            <a:endParaRPr lang="en-IN" sz="2400" b="1" u="sng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rabicPeriod"/>
            </a:pPr>
            <a:r>
              <a:rPr lang="en-IN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Awareness-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Helps the audience clearly understand the problem and solution.</a:t>
            </a:r>
          </a:p>
          <a:p>
            <a:pPr marL="342900" indent="-342900">
              <a:buAutoNum type="arabicPeriod" startAt="2"/>
            </a:pPr>
            <a:r>
              <a:rPr lang="en-IN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Higher Engagement- 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Encourages interest and active participation.</a:t>
            </a:r>
          </a:p>
          <a:p>
            <a:r>
              <a:rPr lang="en-IN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2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Better Decision-Making- 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Enables the audience to make informed choices.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7D7FAC-FF65-C00A-F72E-932811EC7AD2}"/>
              </a:ext>
            </a:extLst>
          </p:cNvPr>
          <p:cNvSpPr txBox="1"/>
          <p:nvPr/>
        </p:nvSpPr>
        <p:spPr>
          <a:xfrm>
            <a:off x="8190806" y="6330462"/>
            <a:ext cx="61500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Accessible &amp; User-Friendly</a:t>
            </a:r>
          </a:p>
          <a:p>
            <a:endParaRPr lang="en-IN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Simple interface designed for non-technical users.</a:t>
            </a:r>
          </a:p>
          <a:p>
            <a:pPr marL="342900" indent="-342900">
              <a:buAutoNum type="arabicPeriod" startAt="2"/>
            </a:pP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Works on low-resource devices.</a:t>
            </a:r>
          </a:p>
          <a:p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 Available </a:t>
            </a:r>
            <a:r>
              <a:rPr lang="en-IN" sz="24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anytime,anywhere</a:t>
            </a:r>
            <a:r>
              <a:rPr lang="en-IN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6816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2F8B7-3596-ECAF-52EA-A1FC507703D4}"/>
              </a:ext>
            </a:extLst>
          </p:cNvPr>
          <p:cNvSpPr txBox="1"/>
          <p:nvPr/>
        </p:nvSpPr>
        <p:spPr>
          <a:xfrm>
            <a:off x="2737208" y="308592"/>
            <a:ext cx="8642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Future Scope</a:t>
            </a:r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1A4A8D7D-EC5F-6952-FD4E-A844FD9E406E}"/>
              </a:ext>
            </a:extLst>
          </p:cNvPr>
          <p:cNvSpPr/>
          <p:nvPr/>
        </p:nvSpPr>
        <p:spPr>
          <a:xfrm>
            <a:off x="104647" y="1184871"/>
            <a:ext cx="6786496" cy="3334070"/>
          </a:xfrm>
          <a:prstGeom prst="round1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AEEE98-889F-DF9B-3024-DEB60860C31B}"/>
              </a:ext>
            </a:extLst>
          </p:cNvPr>
          <p:cNvSpPr txBox="1"/>
          <p:nvPr/>
        </p:nvSpPr>
        <p:spPr>
          <a:xfrm>
            <a:off x="259066" y="1318557"/>
            <a:ext cx="6473345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 b="1" u="sng">
                <a:latin typeface="Open Sans"/>
                <a:ea typeface="Open Sans"/>
                <a:cs typeface="Open Sans"/>
              </a:rPr>
              <a:t>Advance Technology Integration</a:t>
            </a:r>
          </a:p>
          <a:p>
            <a:endParaRPr lang="en-IN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/>
                <a:ea typeface="Open Sans"/>
                <a:cs typeface="Open Sans"/>
              </a:rPr>
              <a:t>Drone-based monitoring for real-time field scanning.</a:t>
            </a:r>
          </a:p>
          <a:p>
            <a:pPr marL="342900" indent="-342900">
              <a:buAutoNum type="arabicPeriod" startAt="2"/>
            </a:pPr>
            <a:r>
              <a:rPr lang="en-IN" sz="2400">
                <a:latin typeface="Open Sans"/>
                <a:ea typeface="Open Sans"/>
                <a:cs typeface="Open Sans"/>
              </a:rPr>
              <a:t>IOT sensor integration for humidity , temperature &amp; soil data.</a:t>
            </a:r>
          </a:p>
          <a:p>
            <a:r>
              <a:rPr lang="en-IN" sz="2400">
                <a:latin typeface="Open Sans"/>
                <a:ea typeface="Open Sans"/>
                <a:cs typeface="Open Sans"/>
              </a:rPr>
              <a:t>3. Weather-based predictions for disease outbreak forecasting.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2BFBF3-7ADC-7F4B-7E7A-BC49E8A6187A}"/>
              </a:ext>
            </a:extLst>
          </p:cNvPr>
          <p:cNvSpPr/>
          <p:nvPr/>
        </p:nvSpPr>
        <p:spPr>
          <a:xfrm>
            <a:off x="7094646" y="4761931"/>
            <a:ext cx="7022964" cy="298960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D242FD-15A8-56AE-C0B9-82AF724318B2}"/>
              </a:ext>
            </a:extLst>
          </p:cNvPr>
          <p:cNvSpPr txBox="1"/>
          <p:nvPr/>
        </p:nvSpPr>
        <p:spPr>
          <a:xfrm>
            <a:off x="7283601" y="4745184"/>
            <a:ext cx="6550065" cy="29854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 b="1" u="sng">
                <a:latin typeface="Open Sans"/>
                <a:ea typeface="Open Sans"/>
                <a:cs typeface="Open Sans"/>
              </a:rPr>
              <a:t>Enhanced User Features</a:t>
            </a:r>
          </a:p>
          <a:p>
            <a:endParaRPr lang="en-IN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rabicPeriod"/>
            </a:pPr>
            <a:r>
              <a:rPr lang="en-IN" sz="2400">
                <a:latin typeface="Open Sans"/>
                <a:ea typeface="Open Sans"/>
                <a:cs typeface="Open Sans"/>
              </a:rPr>
              <a:t>More Crop &amp; Disease Classes to cover wider farming needs.</a:t>
            </a:r>
          </a:p>
          <a:p>
            <a:r>
              <a:rPr lang="en-IN" sz="2400">
                <a:latin typeface="Open Sans"/>
                <a:ea typeface="Open Sans"/>
                <a:cs typeface="Open Sans"/>
              </a:rPr>
              <a:t>2. Farmer History Dashboard to track paste detections.</a:t>
            </a:r>
          </a:p>
          <a:p>
            <a:r>
              <a:rPr lang="en-IN" sz="2400">
                <a:latin typeface="Open Sans"/>
                <a:ea typeface="Open Sans"/>
                <a:cs typeface="Open Sans"/>
              </a:rPr>
              <a:t>3. Community Support System for farmer-to-farmer learning.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056261-4C4B-C146-76EF-053F63310500}"/>
              </a:ext>
            </a:extLst>
          </p:cNvPr>
          <p:cNvSpPr/>
          <p:nvPr/>
        </p:nvSpPr>
        <p:spPr>
          <a:xfrm>
            <a:off x="7065990" y="1206116"/>
            <a:ext cx="7037015" cy="329565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D123E1-EC0F-5D6F-3F91-679F98D3D350}"/>
              </a:ext>
            </a:extLst>
          </p:cNvPr>
          <p:cNvSpPr txBox="1"/>
          <p:nvPr/>
        </p:nvSpPr>
        <p:spPr>
          <a:xfrm>
            <a:off x="7488821" y="1358406"/>
            <a:ext cx="6465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Future Scope-Comparison Table</a:t>
            </a:r>
          </a:p>
          <a:p>
            <a:endParaRPr lang="en-IN"/>
          </a:p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AA2B0-027C-054B-82B5-69EAC4F74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73" y="4750827"/>
            <a:ext cx="6794969" cy="4505552"/>
          </a:xfrm>
          <a:prstGeom prst="rect">
            <a:avLst/>
          </a:prstGeom>
        </p:spPr>
      </p:pic>
      <p:pic>
        <p:nvPicPr>
          <p:cNvPr id="8" name="Picture 7" descr="A white table with black text&#10;&#10;AI-generated content may be incorrect.">
            <a:extLst>
              <a:ext uri="{FF2B5EF4-FFF2-40B4-BE49-F238E27FC236}">
                <a16:creationId xmlns:a16="http://schemas.microsoft.com/office/drawing/2014/main" id="{3593B803-1965-902C-5262-3AA2928D4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497" y="1859879"/>
            <a:ext cx="6537021" cy="2526211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9C1806-91AA-1157-4597-E8CDB0D763F0}"/>
              </a:ext>
            </a:extLst>
          </p:cNvPr>
          <p:cNvSpPr/>
          <p:nvPr/>
        </p:nvSpPr>
        <p:spPr>
          <a:xfrm>
            <a:off x="7063196" y="7939641"/>
            <a:ext cx="6757578" cy="213604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B05350-B419-BA3B-1DDC-BDB2774F7D52}"/>
              </a:ext>
            </a:extLst>
          </p:cNvPr>
          <p:cNvSpPr txBox="1"/>
          <p:nvPr/>
        </p:nvSpPr>
        <p:spPr>
          <a:xfrm>
            <a:off x="7277429" y="7951823"/>
            <a:ext cx="683672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>
                <a:latin typeface="Open Sans"/>
                <a:ea typeface="Open Sans"/>
                <a:cs typeface="Open Sans"/>
              </a:rPr>
              <a:t>Expansion of AI Capabilities</a:t>
            </a:r>
          </a:p>
          <a:p>
            <a:endParaRPr lang="en-US" sz="2400" b="1" u="sng">
              <a:latin typeface="Open Sans"/>
              <a:ea typeface="Open Sans"/>
              <a:cs typeface="Open Sans"/>
            </a:endParaRPr>
          </a:p>
          <a:p>
            <a:pPr marL="342900" indent="-342900">
              <a:buAutoNum type="arabicPeriod"/>
            </a:pPr>
            <a:r>
              <a:rPr lang="en-US" sz="2400">
                <a:latin typeface="Open Sans"/>
                <a:ea typeface="Open Sans"/>
                <a:cs typeface="Open Sans"/>
              </a:rPr>
              <a:t>Multilingual chatbot to support regional languages.</a:t>
            </a:r>
          </a:p>
          <a:p>
            <a:r>
              <a:rPr lang="en-US" sz="2400">
                <a:latin typeface="Open Sans"/>
                <a:ea typeface="Open Sans"/>
                <a:cs typeface="Open Sans"/>
              </a:rPr>
              <a:t>2. Add more crop with local disease accuracy</a:t>
            </a:r>
            <a:r>
              <a:rPr lang="en-US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B81348D-9D05-4E44-8E5E-71B1563BF030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92EFCAC-6E0F-442F-B597-FE5FD22A20BF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 Barman</dc:creator>
  <cp:revision>73</cp:revision>
  <dcterms:modified xsi:type="dcterms:W3CDTF">2025-11-17T01:03:41Z</dcterms:modified>
</cp:coreProperties>
</file>